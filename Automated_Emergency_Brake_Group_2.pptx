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58" r:id="rId5"/>
    <p:sldId id="265" r:id="rId6"/>
    <p:sldId id="266" r:id="rId7"/>
    <p:sldId id="259" r:id="rId8"/>
    <p:sldId id="267" r:id="rId9"/>
    <p:sldId id="270" r:id="rId10"/>
    <p:sldId id="261" r:id="rId11"/>
    <p:sldId id="262" r:id="rId1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8AE"/>
    <a:srgbClr val="283587"/>
    <a:srgbClr val="D51317"/>
    <a:srgbClr val="9A2332"/>
    <a:srgbClr val="235BA2"/>
    <a:srgbClr val="2C7CB5"/>
    <a:srgbClr val="F4F4F4"/>
    <a:srgbClr val="1E2644"/>
    <a:srgbClr val="FFDFDD"/>
    <a:srgbClr val="ED0E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incs stílus, csak rács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Világos stílus 1 – 1. jelölőszín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 autoAdjust="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95C7204-8DE2-A741-2F68-7D6FDB2886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052" y="561181"/>
            <a:ext cx="6496247" cy="2779623"/>
          </a:xfrm>
        </p:spPr>
        <p:txBody>
          <a:bodyPr anchor="b"/>
          <a:lstStyle>
            <a:lvl1pPr algn="l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Mintacím szerkesztése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B98C37CE-36BD-8730-9928-AA8A1A861C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1052" y="3517196"/>
            <a:ext cx="6496247" cy="1655762"/>
          </a:xfrm>
        </p:spPr>
        <p:txBody>
          <a:bodyPr/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D75D64F-C3F8-9C1E-8863-17A1146F4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816CF25-28A6-44B7-AA26-A9DDEE15FAB8}" type="datetimeFigureOut">
              <a:rPr lang="hu-HU" smtClean="0"/>
              <a:pPr/>
              <a:t>2026. 05. 03.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A61A5DF-F298-E52D-F907-6BA7F8EB0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 dirty="0"/>
              <a:t>Felhasználás kizárólag a Robert Bosch Kft. és a Széchenyi István Egyetem belső, közös megjelenéseihez.</a:t>
            </a:r>
          </a:p>
        </p:txBody>
      </p:sp>
    </p:spTree>
    <p:extLst>
      <p:ext uri="{BB962C8B-B14F-4D97-AF65-F5344CB8AC3E}">
        <p14:creationId xmlns:p14="http://schemas.microsoft.com/office/powerpoint/2010/main" val="3743923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55812A9-EB2E-D4A4-2E97-948992486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956249" cy="85093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Mintacím szerkesztése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F0BBC7D-3468-EE08-E3A2-1143C7A7C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6887"/>
            <a:ext cx="10515600" cy="48100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D49D0ED-E390-7538-C3DE-8FD0D435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816CF25-28A6-44B7-AA26-A9DDEE15FAB8}" type="datetimeFigureOut">
              <a:rPr lang="hu-HU" smtClean="0"/>
              <a:pPr/>
              <a:t>2026. 05. 03.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EC754B8-ACE0-8B90-0575-3D697B2C1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 dirty="0"/>
              <a:t>Felhasználás kizárólag a Robert Bosch Kft. és a Széchenyi István Egyetem belső, közös megjelenéseihez.</a:t>
            </a:r>
          </a:p>
        </p:txBody>
      </p:sp>
    </p:spTree>
    <p:extLst>
      <p:ext uri="{BB962C8B-B14F-4D97-AF65-F5344CB8AC3E}">
        <p14:creationId xmlns:p14="http://schemas.microsoft.com/office/powerpoint/2010/main" val="779515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2FB1DD0-FEDB-A411-26E6-FEBB09379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Mintacím szerkesztése</a:t>
            </a:r>
            <a:endParaRPr lang="hu-HU" dirty="0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4761D52-9AC9-15D2-ABA1-6B08FFB45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245D6B4-1973-A45A-84BC-988A99217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816CF25-28A6-44B7-AA26-A9DDEE15FAB8}" type="datetimeFigureOut">
              <a:rPr lang="hu-HU" smtClean="0"/>
              <a:pPr/>
              <a:t>2026. 05. 03.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537489A-C8E5-5CB9-B653-2CFB99E4A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Felhasználás kizárólag a Robert Bosch Kft. és a Széchenyi István Egyetem belső, közös megjelenéseihez.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27575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69D1CDF-AF47-0247-832D-651CA1B63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9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Mintacím szerkesztése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8093865-0DB6-8913-0466-8CD8C38D15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94112"/>
            <a:ext cx="5181600" cy="4782851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hu-HU" dirty="0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07B14EC-76D5-1863-6B1B-CC451C6A0E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94112"/>
            <a:ext cx="5181600" cy="4782851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hu-HU" dirty="0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85190F3-A317-7A6A-5F90-AC669A7A9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816CF25-28A6-44B7-AA26-A9DDEE15FAB8}" type="datetimeFigureOut">
              <a:rPr lang="hu-HU" smtClean="0"/>
              <a:pPr/>
              <a:t>2026. 05. 03.</a:t>
            </a:fld>
            <a:endParaRPr lang="hu-HU" dirty="0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6FCB8E9-54C4-334C-DE1D-591B5CB03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Felhasználás kizárólag a Robert Bosch Kft. és a Széchenyi István Egyetem belső, közös megjelenéseihez.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402230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2615BD3-B634-C139-6581-6A94AFDD3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9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Mintacím szerkesztése</a:t>
            </a:r>
            <a:endParaRPr lang="hu-HU" dirty="0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FE84EB64-70A4-6FA4-29DD-CFE1FAEAB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816CF25-28A6-44B7-AA26-A9DDEE15FAB8}" type="datetimeFigureOut">
              <a:rPr lang="hu-HU" smtClean="0"/>
              <a:pPr/>
              <a:t>2026. 05. 03.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E12CBC24-B838-F0F2-6A1E-831C277ED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Felhasználás kizárólag a Robert Bosch Kft. és a Széchenyi István Egyetem belső, közös megjelenéseihez.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97013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5548DAB5-EC6E-8A13-1991-7636A8BB2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816CF25-28A6-44B7-AA26-A9DDEE15FAB8}" type="datetimeFigureOut">
              <a:rPr lang="hu-HU" smtClean="0"/>
              <a:pPr/>
              <a:t>2026. 05. 03.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0DB277C1-5A5D-0EF3-3371-69D05008A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 dirty="0"/>
              <a:t>Felhasználás kizárólag a Robert Bosch Kft. és a Széchenyi István Egyetem belső, közös megjelenéseihez.</a:t>
            </a:r>
          </a:p>
        </p:txBody>
      </p:sp>
    </p:spTree>
    <p:extLst>
      <p:ext uri="{BB962C8B-B14F-4D97-AF65-F5344CB8AC3E}">
        <p14:creationId xmlns:p14="http://schemas.microsoft.com/office/powerpoint/2010/main" val="3040361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EC61BE21-9B75-7EBA-2131-BCEF3049B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50F380B-BC39-F642-690A-3BDD028E8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B46C49C-4FF7-8C0F-A7EE-4D158CF744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16CF25-28A6-44B7-AA26-A9DDEE15FAB8}" type="datetimeFigureOut">
              <a:rPr lang="hu-HU" smtClean="0"/>
              <a:t>2026. 05. 03.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863EE21-E885-EAD8-E1F8-A0E10D9D64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E0B0632-0574-F41D-4D94-CA238988DF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01FF9C-95C1-4B74-BAE7-F1505A7515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23745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F5BEA70-4269-828C-9F30-E74E143463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/>
              <a:t>Automated</a:t>
            </a:r>
            <a:r>
              <a:rPr lang="hu-HU" dirty="0"/>
              <a:t> Emergency </a:t>
            </a:r>
            <a:r>
              <a:rPr lang="hu-HU" dirty="0" err="1"/>
              <a:t>Brake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5CD029E-EDC9-A39E-67C1-15FB46C6B8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Modern Automotive Software </a:t>
            </a:r>
            <a:r>
              <a:rPr lang="hu-HU" dirty="0" err="1"/>
              <a:t>Development</a:t>
            </a:r>
            <a:endParaRPr lang="hu-HU" dirty="0"/>
          </a:p>
          <a:p>
            <a:r>
              <a:rPr lang="hu-HU" dirty="0"/>
              <a:t>Team 2</a:t>
            </a:r>
          </a:p>
        </p:txBody>
      </p:sp>
    </p:spTree>
    <p:extLst>
      <p:ext uri="{BB962C8B-B14F-4D97-AF65-F5344CB8AC3E}">
        <p14:creationId xmlns:p14="http://schemas.microsoft.com/office/powerpoint/2010/main" val="4003615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B8AC5-6277-96EB-9978-18DBC5734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69EA6C2-4C76-2770-FC2B-784568637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8956249" cy="850933"/>
          </a:xfrm>
        </p:spPr>
        <p:txBody>
          <a:bodyPr/>
          <a:lstStyle/>
          <a:p>
            <a:r>
              <a:rPr lang="hu-HU" dirty="0" err="1"/>
              <a:t>Introduction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F4E4038-FC8A-CAF8-E675-8D271F36A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3629" y="1639197"/>
            <a:ext cx="5596035" cy="2420443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hu-HU" b="1" dirty="0" err="1">
                <a:solidFill>
                  <a:srgbClr val="0078AE"/>
                </a:solidFill>
              </a:rPr>
              <a:t>Motivation</a:t>
            </a:r>
            <a:r>
              <a:rPr lang="hu-HU" b="1" dirty="0">
                <a:solidFill>
                  <a:srgbClr val="0078AE"/>
                </a:solidFill>
              </a:rPr>
              <a:t> </a:t>
            </a:r>
            <a:r>
              <a:rPr lang="hu-HU" b="1" dirty="0" err="1">
                <a:solidFill>
                  <a:srgbClr val="0078AE"/>
                </a:solidFill>
              </a:rPr>
              <a:t>behind</a:t>
            </a:r>
            <a:r>
              <a:rPr lang="hu-HU" b="1" dirty="0">
                <a:solidFill>
                  <a:srgbClr val="0078AE"/>
                </a:solidFill>
              </a:rPr>
              <a:t> AEB</a:t>
            </a:r>
          </a:p>
          <a:p>
            <a:r>
              <a:rPr lang="hu-HU" sz="2400" dirty="0"/>
              <a:t> </a:t>
            </a:r>
            <a:r>
              <a:rPr lang="en-US" sz="2400" dirty="0"/>
              <a:t>~1.35 million road deaths annually worldwide</a:t>
            </a:r>
            <a:endParaRPr lang="hu-HU" sz="2400" dirty="0"/>
          </a:p>
          <a:p>
            <a:r>
              <a:rPr lang="hu-HU" sz="2400" dirty="0"/>
              <a:t>H</a:t>
            </a:r>
            <a:r>
              <a:rPr lang="en-US" sz="2400" dirty="0" err="1"/>
              <a:t>uman</a:t>
            </a:r>
            <a:r>
              <a:rPr lang="en-US" sz="2400" dirty="0"/>
              <a:t> error </a:t>
            </a:r>
            <a:r>
              <a:rPr lang="hu-HU" sz="2400" dirty="0">
                <a:sym typeface="Wingdings" panose="05000000000000000000" pitchFamily="2" charset="2"/>
              </a:rPr>
              <a:t> o</a:t>
            </a:r>
            <a:r>
              <a:rPr lang="en-US" sz="2400" dirty="0" err="1"/>
              <a:t>ver</a:t>
            </a:r>
            <a:r>
              <a:rPr lang="en-US" sz="2400" dirty="0"/>
              <a:t> 90% of accidents</a:t>
            </a:r>
            <a:endParaRPr lang="hu-HU" sz="2400" dirty="0"/>
          </a:p>
          <a:p>
            <a:r>
              <a:rPr lang="en-US" sz="2400" dirty="0"/>
              <a:t>Rear-end collisions</a:t>
            </a:r>
            <a:endParaRPr lang="hu-HU" sz="2400" dirty="0"/>
          </a:p>
        </p:txBody>
      </p:sp>
      <p:sp>
        <p:nvSpPr>
          <p:cNvPr id="5" name="Tartalom helye 2">
            <a:extLst>
              <a:ext uri="{FF2B5EF4-FFF2-40B4-BE49-F238E27FC236}">
                <a16:creationId xmlns:a16="http://schemas.microsoft.com/office/drawing/2014/main" id="{FEDC8F67-28DE-B95C-524C-35EAAD6B0F5E}"/>
              </a:ext>
            </a:extLst>
          </p:cNvPr>
          <p:cNvSpPr txBox="1">
            <a:spLocks/>
          </p:cNvSpPr>
          <p:nvPr/>
        </p:nvSpPr>
        <p:spPr>
          <a:xfrm>
            <a:off x="7888794" y="1639198"/>
            <a:ext cx="3861772" cy="2802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hu-HU" b="1" dirty="0" err="1">
                <a:solidFill>
                  <a:srgbClr val="0078AE"/>
                </a:solidFill>
              </a:rPr>
              <a:t>Possible</a:t>
            </a:r>
            <a:r>
              <a:rPr lang="hu-HU" b="1" dirty="0">
                <a:solidFill>
                  <a:srgbClr val="0078AE"/>
                </a:solidFill>
              </a:rPr>
              <a:t> </a:t>
            </a:r>
            <a:r>
              <a:rPr lang="hu-HU" b="1" dirty="0" err="1">
                <a:solidFill>
                  <a:srgbClr val="0078AE"/>
                </a:solidFill>
              </a:rPr>
              <a:t>solutions</a:t>
            </a:r>
            <a:endParaRPr lang="hu-HU" b="1" dirty="0">
              <a:solidFill>
                <a:srgbClr val="0078AE"/>
              </a:solidFill>
            </a:endParaRPr>
          </a:p>
          <a:p>
            <a:r>
              <a:rPr lang="en-US" sz="2400" dirty="0"/>
              <a:t>Radar-based</a:t>
            </a:r>
            <a:endParaRPr lang="hu-HU" sz="2400" dirty="0"/>
          </a:p>
          <a:p>
            <a:r>
              <a:rPr lang="en-US" sz="2400" dirty="0"/>
              <a:t>Camera-based</a:t>
            </a:r>
            <a:endParaRPr lang="hu-HU" sz="2400" dirty="0"/>
          </a:p>
          <a:p>
            <a:r>
              <a:rPr lang="en-US" sz="2400" dirty="0"/>
              <a:t>LiDAR</a:t>
            </a:r>
            <a:endParaRPr lang="hu-HU" sz="2400" dirty="0"/>
          </a:p>
          <a:p>
            <a:r>
              <a:rPr lang="en-US" sz="2400" dirty="0"/>
              <a:t>Sensor fusion</a:t>
            </a:r>
            <a:endParaRPr lang="hu-HU" sz="2400" dirty="0"/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724170D3-ACE3-AB37-1A54-F98536073B2A}"/>
              </a:ext>
            </a:extLst>
          </p:cNvPr>
          <p:cNvSpPr/>
          <p:nvPr/>
        </p:nvSpPr>
        <p:spPr>
          <a:xfrm>
            <a:off x="838201" y="4721422"/>
            <a:ext cx="10591800" cy="1088572"/>
          </a:xfrm>
          <a:prstGeom prst="roundRect">
            <a:avLst>
              <a:gd name="adj" fmla="val 7667"/>
            </a:avLst>
          </a:prstGeom>
          <a:solidFill>
            <a:srgbClr val="F4F4F4"/>
          </a:solidFill>
          <a:ln w="28575">
            <a:solidFill>
              <a:srgbClr val="1E26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4000" rtlCol="0" anchor="ctr"/>
          <a:lstStyle/>
          <a:p>
            <a:r>
              <a:rPr lang="hu-H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ISO 26262: </a:t>
            </a:r>
            <a:r>
              <a:rPr lang="hu-HU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Functional</a:t>
            </a:r>
            <a:r>
              <a:rPr lang="hu-H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safety</a:t>
            </a:r>
            <a:r>
              <a:rPr lang="hu-H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standard </a:t>
            </a:r>
            <a:r>
              <a:rPr lang="hu-H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hu-H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ASIL A-D </a:t>
            </a:r>
            <a:r>
              <a:rPr lang="hu-HU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classification</a:t>
            </a:r>
            <a:endParaRPr lang="hu-HU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u-H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Euro NCAP: AEB </a:t>
            </a:r>
            <a:r>
              <a:rPr lang="hu-HU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scoring</a:t>
            </a:r>
            <a:r>
              <a:rPr lang="hu-H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since</a:t>
            </a:r>
            <a:r>
              <a:rPr lang="hu-HU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2014</a:t>
            </a:r>
          </a:p>
        </p:txBody>
      </p:sp>
    </p:spTree>
    <p:extLst>
      <p:ext uri="{BB962C8B-B14F-4D97-AF65-F5344CB8AC3E}">
        <p14:creationId xmlns:p14="http://schemas.microsoft.com/office/powerpoint/2010/main" val="622078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60145-20E6-AD26-92C9-CDA33B7CE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34CBEB0-C743-E354-C8E7-3FF1E6568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3" y="365125"/>
            <a:ext cx="8956249" cy="850933"/>
          </a:xfrm>
        </p:spPr>
        <p:txBody>
          <a:bodyPr/>
          <a:lstStyle/>
          <a:p>
            <a:r>
              <a:rPr lang="hu-HU" dirty="0" err="1"/>
              <a:t>Standards</a:t>
            </a:r>
            <a:r>
              <a:rPr lang="hu-HU" dirty="0"/>
              <a:t> &amp; </a:t>
            </a:r>
            <a:r>
              <a:rPr lang="hu-HU" dirty="0" err="1"/>
              <a:t>historical</a:t>
            </a:r>
            <a:r>
              <a:rPr lang="hu-HU" dirty="0"/>
              <a:t> </a:t>
            </a:r>
            <a:r>
              <a:rPr lang="hu-HU" dirty="0" err="1"/>
              <a:t>background</a:t>
            </a:r>
            <a:endParaRPr lang="hu-HU" dirty="0"/>
          </a:p>
        </p:txBody>
      </p:sp>
      <p:sp>
        <p:nvSpPr>
          <p:cNvPr id="6" name="Tartalom helye 2">
            <a:extLst>
              <a:ext uri="{FF2B5EF4-FFF2-40B4-BE49-F238E27FC236}">
                <a16:creationId xmlns:a16="http://schemas.microsoft.com/office/drawing/2014/main" id="{B7EFEEC9-460D-BA56-D1B9-0E73D281BBDE}"/>
              </a:ext>
            </a:extLst>
          </p:cNvPr>
          <p:cNvSpPr txBox="1">
            <a:spLocks/>
          </p:cNvSpPr>
          <p:nvPr/>
        </p:nvSpPr>
        <p:spPr>
          <a:xfrm>
            <a:off x="1469572" y="1432427"/>
            <a:ext cx="10406742" cy="48100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80000"/>
              </a:lnSpc>
              <a:buNone/>
            </a:pPr>
            <a:r>
              <a:rPr lang="hu-HU" sz="2300" dirty="0"/>
              <a:t>1990s: Radar and </a:t>
            </a:r>
            <a:r>
              <a:rPr lang="hu-HU" sz="2300" dirty="0" err="1"/>
              <a:t>sensor</a:t>
            </a:r>
            <a:r>
              <a:rPr lang="hu-HU" sz="2300" dirty="0"/>
              <a:t> </a:t>
            </a:r>
            <a:r>
              <a:rPr lang="hu-HU" sz="2300" dirty="0" err="1"/>
              <a:t>tech</a:t>
            </a:r>
            <a:r>
              <a:rPr lang="hu-HU" sz="2300" dirty="0"/>
              <a:t> </a:t>
            </a:r>
            <a:r>
              <a:rPr lang="hu-HU" sz="2300" dirty="0" err="1"/>
              <a:t>introduced</a:t>
            </a:r>
            <a:r>
              <a:rPr lang="hu-HU" sz="2300" dirty="0"/>
              <a:t> in </a:t>
            </a:r>
            <a:r>
              <a:rPr lang="hu-HU" sz="2300" dirty="0" err="1"/>
              <a:t>adaptive</a:t>
            </a:r>
            <a:r>
              <a:rPr lang="hu-HU" sz="2300" dirty="0"/>
              <a:t> </a:t>
            </a:r>
            <a:r>
              <a:rPr lang="hu-HU" sz="2300" dirty="0" err="1"/>
              <a:t>cruise</a:t>
            </a:r>
            <a:r>
              <a:rPr lang="hu-HU" sz="2300" dirty="0"/>
              <a:t> </a:t>
            </a:r>
            <a:r>
              <a:rPr lang="hu-HU" sz="2300" dirty="0" err="1"/>
              <a:t>control</a:t>
            </a:r>
            <a:endParaRPr lang="hu-HU" sz="2300" dirty="0"/>
          </a:p>
          <a:p>
            <a:pPr marL="0" indent="0">
              <a:lnSpc>
                <a:spcPct val="180000"/>
              </a:lnSpc>
              <a:buNone/>
            </a:pPr>
            <a:r>
              <a:rPr lang="en-US" sz="2300" dirty="0"/>
              <a:t>2003: Toyota Pre-Collision System </a:t>
            </a:r>
            <a:r>
              <a:rPr lang="hu-HU" sz="2300" dirty="0">
                <a:sym typeface="Wingdings" panose="05000000000000000000" pitchFamily="2" charset="2"/>
              </a:rPr>
              <a:t></a:t>
            </a:r>
            <a:r>
              <a:rPr lang="en-US" sz="2300" dirty="0"/>
              <a:t> first mass-market AEB</a:t>
            </a:r>
          </a:p>
          <a:p>
            <a:pPr marL="0" indent="0">
              <a:lnSpc>
                <a:spcPct val="180000"/>
              </a:lnSpc>
              <a:buNone/>
            </a:pPr>
            <a:r>
              <a:rPr lang="en-US" sz="2300" dirty="0"/>
              <a:t>2008: Mercedes-Benz PRE-SAFE Brake, Volvo City Safety</a:t>
            </a:r>
          </a:p>
          <a:p>
            <a:pPr marL="0" indent="0">
              <a:lnSpc>
                <a:spcPct val="180000"/>
              </a:lnSpc>
              <a:buNone/>
            </a:pPr>
            <a:r>
              <a:rPr lang="en-US" sz="2300" dirty="0"/>
              <a:t>2014: Euro NCAP begins scoring AEB in safety ratings</a:t>
            </a:r>
          </a:p>
          <a:p>
            <a:pPr marL="0" indent="0">
              <a:lnSpc>
                <a:spcPct val="180000"/>
              </a:lnSpc>
              <a:buNone/>
            </a:pPr>
            <a:r>
              <a:rPr lang="en-US" sz="2300" dirty="0"/>
              <a:t>2022: EU mandates AEB on all newly type-approved cars</a:t>
            </a:r>
          </a:p>
          <a:p>
            <a:pPr marL="0" indent="0">
              <a:lnSpc>
                <a:spcPct val="180000"/>
              </a:lnSpc>
              <a:buNone/>
            </a:pPr>
            <a:r>
              <a:rPr lang="en-US" sz="2300" dirty="0"/>
              <a:t>2024: EU mandates AEB on all newly registered cars</a:t>
            </a:r>
            <a:endParaRPr lang="hu-HU" sz="2300" dirty="0"/>
          </a:p>
        </p:txBody>
      </p: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3457291C-92FD-3058-1D84-1AA3F967AB1D}"/>
              </a:ext>
            </a:extLst>
          </p:cNvPr>
          <p:cNvCxnSpPr>
            <a:cxnSpLocks/>
          </p:cNvCxnSpPr>
          <p:nvPr/>
        </p:nvCxnSpPr>
        <p:spPr>
          <a:xfrm>
            <a:off x="957943" y="1796141"/>
            <a:ext cx="0" cy="3886200"/>
          </a:xfrm>
          <a:prstGeom prst="line">
            <a:avLst/>
          </a:prstGeom>
          <a:ln w="44450">
            <a:solidFill>
              <a:srgbClr val="1E26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lipszis 10">
            <a:extLst>
              <a:ext uri="{FF2B5EF4-FFF2-40B4-BE49-F238E27FC236}">
                <a16:creationId xmlns:a16="http://schemas.microsoft.com/office/drawing/2014/main" id="{393AA5F6-F45A-5649-8A03-D37F8C07A80D}"/>
              </a:ext>
            </a:extLst>
          </p:cNvPr>
          <p:cNvSpPr/>
          <p:nvPr/>
        </p:nvSpPr>
        <p:spPr>
          <a:xfrm>
            <a:off x="867943" y="3276598"/>
            <a:ext cx="180000" cy="180000"/>
          </a:xfrm>
          <a:prstGeom prst="ellipse">
            <a:avLst/>
          </a:prstGeom>
          <a:solidFill>
            <a:srgbClr val="F4F4F4"/>
          </a:solidFill>
          <a:ln w="76200">
            <a:solidFill>
              <a:srgbClr val="1E26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2" name="Ellipszis 11">
            <a:extLst>
              <a:ext uri="{FF2B5EF4-FFF2-40B4-BE49-F238E27FC236}">
                <a16:creationId xmlns:a16="http://schemas.microsoft.com/office/drawing/2014/main" id="{6B251F41-2A73-5A3C-E3D8-ADFF63A65FF8}"/>
              </a:ext>
            </a:extLst>
          </p:cNvPr>
          <p:cNvSpPr/>
          <p:nvPr/>
        </p:nvSpPr>
        <p:spPr>
          <a:xfrm>
            <a:off x="857430" y="1730824"/>
            <a:ext cx="180000" cy="180000"/>
          </a:xfrm>
          <a:prstGeom prst="ellipse">
            <a:avLst/>
          </a:prstGeom>
          <a:solidFill>
            <a:srgbClr val="F4F4F4"/>
          </a:solidFill>
          <a:ln w="76200">
            <a:solidFill>
              <a:srgbClr val="1E26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3" name="Ellipszis 12">
            <a:extLst>
              <a:ext uri="{FF2B5EF4-FFF2-40B4-BE49-F238E27FC236}">
                <a16:creationId xmlns:a16="http://schemas.microsoft.com/office/drawing/2014/main" id="{D42768CD-F1E3-D291-4949-6B666C4D2430}"/>
              </a:ext>
            </a:extLst>
          </p:cNvPr>
          <p:cNvSpPr/>
          <p:nvPr/>
        </p:nvSpPr>
        <p:spPr>
          <a:xfrm>
            <a:off x="867936" y="2503714"/>
            <a:ext cx="180000" cy="180000"/>
          </a:xfrm>
          <a:prstGeom prst="ellipse">
            <a:avLst/>
          </a:prstGeom>
          <a:solidFill>
            <a:srgbClr val="F4F4F4"/>
          </a:solidFill>
          <a:ln w="76200">
            <a:solidFill>
              <a:srgbClr val="1E26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4" name="Ellipszis 13">
            <a:extLst>
              <a:ext uri="{FF2B5EF4-FFF2-40B4-BE49-F238E27FC236}">
                <a16:creationId xmlns:a16="http://schemas.microsoft.com/office/drawing/2014/main" id="{C65CD813-CE9E-375B-5E5E-38849CE4BD4C}"/>
              </a:ext>
            </a:extLst>
          </p:cNvPr>
          <p:cNvSpPr/>
          <p:nvPr/>
        </p:nvSpPr>
        <p:spPr>
          <a:xfrm>
            <a:off x="867944" y="4016828"/>
            <a:ext cx="180000" cy="180000"/>
          </a:xfrm>
          <a:prstGeom prst="ellipse">
            <a:avLst/>
          </a:prstGeom>
          <a:solidFill>
            <a:srgbClr val="F4F4F4"/>
          </a:solidFill>
          <a:ln w="76200">
            <a:solidFill>
              <a:srgbClr val="1E26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5" name="Ellipszis 14">
            <a:extLst>
              <a:ext uri="{FF2B5EF4-FFF2-40B4-BE49-F238E27FC236}">
                <a16:creationId xmlns:a16="http://schemas.microsoft.com/office/drawing/2014/main" id="{2FB1B500-4F05-12C6-7588-274E916FD022}"/>
              </a:ext>
            </a:extLst>
          </p:cNvPr>
          <p:cNvSpPr/>
          <p:nvPr/>
        </p:nvSpPr>
        <p:spPr>
          <a:xfrm>
            <a:off x="867939" y="4778823"/>
            <a:ext cx="180000" cy="180000"/>
          </a:xfrm>
          <a:prstGeom prst="ellipse">
            <a:avLst/>
          </a:prstGeom>
          <a:solidFill>
            <a:srgbClr val="F4F4F4"/>
          </a:solidFill>
          <a:ln w="76200">
            <a:solidFill>
              <a:srgbClr val="1E26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6" name="Ellipszis 15">
            <a:extLst>
              <a:ext uri="{FF2B5EF4-FFF2-40B4-BE49-F238E27FC236}">
                <a16:creationId xmlns:a16="http://schemas.microsoft.com/office/drawing/2014/main" id="{94053DCC-255D-8155-A63C-57B15026DFCC}"/>
              </a:ext>
            </a:extLst>
          </p:cNvPr>
          <p:cNvSpPr/>
          <p:nvPr/>
        </p:nvSpPr>
        <p:spPr>
          <a:xfrm>
            <a:off x="867939" y="5562602"/>
            <a:ext cx="180000" cy="180000"/>
          </a:xfrm>
          <a:prstGeom prst="ellipse">
            <a:avLst/>
          </a:prstGeom>
          <a:solidFill>
            <a:srgbClr val="F4F4F4"/>
          </a:solidFill>
          <a:ln w="76200">
            <a:solidFill>
              <a:srgbClr val="1E26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917553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96E21D-007E-CD84-6BA1-4735258F5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Subject</a:t>
            </a:r>
            <a:r>
              <a:rPr lang="hu-HU" dirty="0"/>
              <a:t> </a:t>
            </a:r>
            <a:r>
              <a:rPr lang="hu-HU" dirty="0" err="1"/>
              <a:t>background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CAB24D8-10A2-AB3F-8004-16DC4D08F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1260" y="1577093"/>
            <a:ext cx="5163207" cy="48100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2900" b="1" dirty="0" err="1">
                <a:solidFill>
                  <a:srgbClr val="0078AE"/>
                </a:solidFill>
              </a:rPr>
              <a:t>Subject</a:t>
            </a:r>
            <a:r>
              <a:rPr lang="hu-HU" sz="2900" b="1" dirty="0">
                <a:solidFill>
                  <a:srgbClr val="0078AE"/>
                </a:solidFill>
              </a:rPr>
              <a:t> </a:t>
            </a:r>
            <a:r>
              <a:rPr lang="hu-HU" sz="2900" b="1" dirty="0" err="1">
                <a:solidFill>
                  <a:srgbClr val="0078AE"/>
                </a:solidFill>
              </a:rPr>
              <a:t>concept</a:t>
            </a:r>
            <a:endParaRPr lang="hu-HU" sz="2900" b="1" dirty="0">
              <a:solidFill>
                <a:srgbClr val="0078AE"/>
              </a:solidFill>
            </a:endParaRPr>
          </a:p>
          <a:p>
            <a:r>
              <a:rPr lang="en-US" sz="2150" dirty="0"/>
              <a:t>Agile methodology</a:t>
            </a:r>
          </a:p>
          <a:p>
            <a:r>
              <a:rPr lang="en-US" sz="2150" dirty="0"/>
              <a:t>2 </a:t>
            </a:r>
            <a:r>
              <a:rPr lang="hu-HU" sz="2150" dirty="0"/>
              <a:t>p</a:t>
            </a:r>
            <a:r>
              <a:rPr lang="en-US" sz="2150" dirty="0" err="1"/>
              <a:t>rogram</a:t>
            </a:r>
            <a:r>
              <a:rPr lang="en-US" sz="2150" dirty="0"/>
              <a:t> </a:t>
            </a:r>
            <a:r>
              <a:rPr lang="hu-HU" sz="2150" dirty="0"/>
              <a:t>i</a:t>
            </a:r>
            <a:r>
              <a:rPr lang="en-US" sz="2150" dirty="0" err="1"/>
              <a:t>ncrements</a:t>
            </a:r>
            <a:r>
              <a:rPr lang="en-US" sz="2150" dirty="0"/>
              <a:t>, sprint-based planning</a:t>
            </a:r>
          </a:p>
          <a:p>
            <a:r>
              <a:rPr lang="en-US" sz="2150" dirty="0"/>
              <a:t>Roles: </a:t>
            </a:r>
            <a:r>
              <a:rPr lang="hu-HU" sz="2150" dirty="0"/>
              <a:t>p</a:t>
            </a:r>
            <a:r>
              <a:rPr lang="en-US" sz="2150" dirty="0" err="1"/>
              <a:t>roduct</a:t>
            </a:r>
            <a:r>
              <a:rPr lang="en-US" sz="2150" dirty="0"/>
              <a:t> </a:t>
            </a:r>
            <a:r>
              <a:rPr lang="hu-HU" sz="2150" dirty="0"/>
              <a:t>o</a:t>
            </a:r>
            <a:r>
              <a:rPr lang="en-US" sz="2150" dirty="0" err="1"/>
              <a:t>wner</a:t>
            </a:r>
            <a:r>
              <a:rPr lang="en-US" sz="2150" dirty="0"/>
              <a:t>, </a:t>
            </a:r>
            <a:r>
              <a:rPr lang="hu-HU" sz="2150" dirty="0"/>
              <a:t>s</a:t>
            </a:r>
            <a:r>
              <a:rPr lang="en-US" sz="2150" dirty="0" err="1"/>
              <a:t>crum</a:t>
            </a:r>
            <a:r>
              <a:rPr lang="en-US" sz="2150" dirty="0"/>
              <a:t> </a:t>
            </a:r>
            <a:r>
              <a:rPr lang="hu-HU" sz="2150" dirty="0"/>
              <a:t>m</a:t>
            </a:r>
            <a:r>
              <a:rPr lang="en-US" sz="2150" dirty="0"/>
              <a:t>aster, </a:t>
            </a:r>
            <a:r>
              <a:rPr lang="hu-HU" sz="2150" dirty="0"/>
              <a:t>d</a:t>
            </a:r>
            <a:r>
              <a:rPr lang="en-US" sz="2150" dirty="0" err="1"/>
              <a:t>evelopers</a:t>
            </a:r>
            <a:endParaRPr lang="en-US" sz="2150" dirty="0"/>
          </a:p>
          <a:p>
            <a:r>
              <a:rPr lang="en-US" sz="2150" dirty="0"/>
              <a:t>Events: </a:t>
            </a:r>
            <a:r>
              <a:rPr lang="hu-HU" sz="2150" dirty="0"/>
              <a:t>p</a:t>
            </a:r>
            <a:r>
              <a:rPr lang="en-US" sz="2150" dirty="0" err="1"/>
              <a:t>lanning</a:t>
            </a:r>
            <a:r>
              <a:rPr lang="en-US" sz="2150" dirty="0"/>
              <a:t>, </a:t>
            </a:r>
            <a:r>
              <a:rPr lang="hu-HU" sz="2150" dirty="0"/>
              <a:t>r</a:t>
            </a:r>
            <a:r>
              <a:rPr lang="en-US" sz="2150" dirty="0" err="1"/>
              <a:t>eview</a:t>
            </a:r>
            <a:r>
              <a:rPr lang="en-US" sz="2150" dirty="0"/>
              <a:t>, </a:t>
            </a:r>
            <a:r>
              <a:rPr lang="hu-HU" sz="2150" dirty="0"/>
              <a:t>r</a:t>
            </a:r>
            <a:r>
              <a:rPr lang="en-US" sz="2150" dirty="0" err="1"/>
              <a:t>etro</a:t>
            </a:r>
            <a:r>
              <a:rPr lang="en-US" sz="2150" dirty="0"/>
              <a:t>, </a:t>
            </a:r>
            <a:r>
              <a:rPr lang="hu-HU" sz="2150" dirty="0"/>
              <a:t>„d</a:t>
            </a:r>
            <a:r>
              <a:rPr lang="en-US" sz="2150" dirty="0" err="1"/>
              <a:t>aily</a:t>
            </a:r>
            <a:r>
              <a:rPr lang="hu-HU" sz="2150" dirty="0"/>
              <a:t>”</a:t>
            </a:r>
            <a:r>
              <a:rPr lang="en-US" sz="2150" dirty="0"/>
              <a:t> </a:t>
            </a:r>
            <a:r>
              <a:rPr lang="hu-HU" sz="2150" dirty="0"/>
              <a:t>s</a:t>
            </a:r>
            <a:r>
              <a:rPr lang="en-US" sz="2150" dirty="0" err="1"/>
              <a:t>tandup</a:t>
            </a:r>
            <a:endParaRPr lang="en-US" sz="2150" dirty="0"/>
          </a:p>
        </p:txBody>
      </p:sp>
      <p:sp>
        <p:nvSpPr>
          <p:cNvPr id="5" name="Tartalom helye 2">
            <a:extLst>
              <a:ext uri="{FF2B5EF4-FFF2-40B4-BE49-F238E27FC236}">
                <a16:creationId xmlns:a16="http://schemas.microsoft.com/office/drawing/2014/main" id="{4A2802A2-9142-22A5-A0D5-C909472449C2}"/>
              </a:ext>
            </a:extLst>
          </p:cNvPr>
          <p:cNvSpPr txBox="1">
            <a:spLocks/>
          </p:cNvSpPr>
          <p:nvPr/>
        </p:nvSpPr>
        <p:spPr>
          <a:xfrm>
            <a:off x="6651735" y="1577093"/>
            <a:ext cx="4258003" cy="48100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hu-HU" sz="2900" b="1" dirty="0" err="1">
                <a:solidFill>
                  <a:srgbClr val="0078AE"/>
                </a:solidFill>
              </a:rPr>
              <a:t>Tools</a:t>
            </a:r>
            <a:endParaRPr lang="hu-HU" sz="2900" b="1" dirty="0">
              <a:solidFill>
                <a:srgbClr val="0078AE"/>
              </a:solidFill>
            </a:endParaRPr>
          </a:p>
          <a:p>
            <a:r>
              <a:rPr lang="en-US" sz="2150" dirty="0"/>
              <a:t>ROS2 Humble, C++, VS Code</a:t>
            </a:r>
          </a:p>
          <a:p>
            <a:r>
              <a:rPr lang="en-US" sz="2150" dirty="0"/>
              <a:t>GitHub Projects</a:t>
            </a:r>
          </a:p>
          <a:p>
            <a:r>
              <a:rPr lang="en-US" sz="2150" dirty="0" err="1"/>
              <a:t>CooperativeResearchPlatform</a:t>
            </a:r>
            <a:r>
              <a:rPr lang="en-US" sz="2150" dirty="0"/>
              <a:t> Simulator, Foxglove visualizer</a:t>
            </a:r>
          </a:p>
        </p:txBody>
      </p:sp>
    </p:spTree>
    <p:extLst>
      <p:ext uri="{BB962C8B-B14F-4D97-AF65-F5344CB8AC3E}">
        <p14:creationId xmlns:p14="http://schemas.microsoft.com/office/powerpoint/2010/main" val="2600134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B7B06-3E4D-E1D7-2B57-B16ABEE86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3EC3007-DF29-8AC8-FA7F-624FF9844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The team &amp; </a:t>
            </a:r>
            <a:r>
              <a:rPr lang="hu-HU" dirty="0" err="1"/>
              <a:t>roles</a:t>
            </a:r>
            <a:endParaRPr lang="hu-HU" dirty="0"/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F36B6079-17EC-A399-92D0-C33ABA7284EC}"/>
              </a:ext>
            </a:extLst>
          </p:cNvPr>
          <p:cNvSpPr/>
          <p:nvPr/>
        </p:nvSpPr>
        <p:spPr>
          <a:xfrm>
            <a:off x="544286" y="5055733"/>
            <a:ext cx="10980308" cy="1088572"/>
          </a:xfrm>
          <a:prstGeom prst="roundRect">
            <a:avLst>
              <a:gd name="adj" fmla="val 7667"/>
            </a:avLst>
          </a:prstGeom>
          <a:solidFill>
            <a:srgbClr val="F4F4F4"/>
          </a:solidFill>
          <a:ln w="28575">
            <a:solidFill>
              <a:srgbClr val="1E26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4000" rtlCol="0" anchor="ctr"/>
          <a:lstStyle/>
          <a:p>
            <a:r>
              <a:rPr lang="hu-HU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Scrum</a:t>
            </a:r>
            <a:r>
              <a:rPr lang="hu-HU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Master: Timót	</a:t>
            </a:r>
            <a:r>
              <a:rPr lang="hu-HU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</a:t>
            </a:r>
            <a:r>
              <a:rPr lang="hu-HU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Owner</a:t>
            </a:r>
            <a:r>
              <a:rPr lang="hu-HU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Edina	</a:t>
            </a:r>
            <a:r>
              <a:rPr lang="hu-HU" sz="17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Developers</a:t>
            </a:r>
            <a:r>
              <a:rPr lang="hu-HU" sz="1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András, Anna, Dani, Szabolcs, Zoli</a:t>
            </a:r>
          </a:p>
        </p:txBody>
      </p:sp>
      <p:graphicFrame>
        <p:nvGraphicFramePr>
          <p:cNvPr id="5" name="Táblázat 4">
            <a:extLst>
              <a:ext uri="{FF2B5EF4-FFF2-40B4-BE49-F238E27FC236}">
                <a16:creationId xmlns:a16="http://schemas.microsoft.com/office/drawing/2014/main" id="{7AFEE9FB-A79D-524B-24CC-BF8B8B692A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578873"/>
              </p:ext>
            </p:extLst>
          </p:nvPr>
        </p:nvGraphicFramePr>
        <p:xfrm>
          <a:off x="1922361" y="1398532"/>
          <a:ext cx="8347278" cy="31699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576363">
                  <a:extLst>
                    <a:ext uri="{9D8B030D-6E8A-4147-A177-3AD203B41FA5}">
                      <a16:colId xmlns:a16="http://schemas.microsoft.com/office/drawing/2014/main" val="2581240266"/>
                    </a:ext>
                  </a:extLst>
                </a:gridCol>
                <a:gridCol w="6770915">
                  <a:extLst>
                    <a:ext uri="{9D8B030D-6E8A-4147-A177-3AD203B41FA5}">
                      <a16:colId xmlns:a16="http://schemas.microsoft.com/office/drawing/2014/main" val="42567336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Name</a:t>
                      </a:r>
                      <a:endParaRPr lang="hu-H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Tasks</a:t>
                      </a:r>
                      <a:endParaRPr lang="hu-H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225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András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behavior</a:t>
                      </a:r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planner</a:t>
                      </a:r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intervention</a:t>
                      </a:r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visualization</a:t>
                      </a:r>
                      <a:endParaRPr lang="hu-H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726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plan long emergency, config, </a:t>
                      </a:r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documentation</a:t>
                      </a:r>
                      <a:endParaRPr lang="hu-H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451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decision </a:t>
                      </a:r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making</a:t>
                      </a:r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integration</a:t>
                      </a:r>
                      <a:endParaRPr lang="hu-H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222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plan long emergency,</a:t>
                      </a:r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robustness</a:t>
                      </a:r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documentation</a:t>
                      </a:r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ppt</a:t>
                      </a:r>
                      <a:endParaRPr lang="hu-H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432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Szabolcs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collision</a:t>
                      </a:r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detection</a:t>
                      </a:r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visualization</a:t>
                      </a:r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jerk</a:t>
                      </a:r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&amp; </a:t>
                      </a:r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speed</a:t>
                      </a:r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limit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437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Timót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collision</a:t>
                      </a:r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detection</a:t>
                      </a:r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milestones</a:t>
                      </a:r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node</a:t>
                      </a:r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integartion</a:t>
                      </a:r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ppt</a:t>
                      </a:r>
                      <a:endParaRPr lang="hu-H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179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Zoli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control</a:t>
                      </a:r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long</a:t>
                      </a:r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emergency</a:t>
                      </a:r>
                      <a:r>
                        <a:rPr lang="hu-HU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hu-HU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intervention</a:t>
                      </a:r>
                      <a:endParaRPr lang="hu-H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043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5518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1B1F4D8-0CC2-2519-EC36-93CF688FA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Milestones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77BF911-60A9-7298-E80A-EB3C88C2E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6001"/>
            <a:ext cx="4963886" cy="48100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078AE"/>
                </a:solidFill>
              </a:rPr>
              <a:t>M1: Foundation &amp; Architecture</a:t>
            </a:r>
          </a:p>
          <a:p>
            <a:r>
              <a:rPr lang="en-US" sz="2200" dirty="0"/>
              <a:t>Skeletons</a:t>
            </a:r>
          </a:p>
          <a:p>
            <a:r>
              <a:rPr lang="en-US" sz="2200" dirty="0"/>
              <a:t>Node integration</a:t>
            </a:r>
          </a:p>
          <a:p>
            <a:r>
              <a:rPr lang="en-US" sz="2200" dirty="0"/>
              <a:t>Visualization</a:t>
            </a:r>
            <a:endParaRPr lang="hu-HU" sz="2200" dirty="0"/>
          </a:p>
          <a:p>
            <a:pPr marL="0" indent="0">
              <a:spcBef>
                <a:spcPts val="2400"/>
              </a:spcBef>
              <a:buNone/>
            </a:pPr>
            <a:r>
              <a:rPr lang="en-US" sz="2500" b="1" dirty="0">
                <a:solidFill>
                  <a:srgbClr val="0078AE"/>
                </a:solidFill>
              </a:rPr>
              <a:t>M2: Functional Logic</a:t>
            </a:r>
          </a:p>
          <a:p>
            <a:r>
              <a:rPr lang="en-US" sz="2200" dirty="0"/>
              <a:t>Collision event detection</a:t>
            </a:r>
          </a:p>
          <a:p>
            <a:r>
              <a:rPr lang="en-US" sz="2200" dirty="0"/>
              <a:t>Decision making</a:t>
            </a:r>
          </a:p>
          <a:p>
            <a:r>
              <a:rPr lang="en-US" sz="2200" dirty="0"/>
              <a:t>Intervention</a:t>
            </a:r>
          </a:p>
          <a:p>
            <a:endParaRPr lang="hu-HU" dirty="0"/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F9620D82-EDAA-4675-D2D3-4E8EC28F72E6}"/>
              </a:ext>
            </a:extLst>
          </p:cNvPr>
          <p:cNvSpPr txBox="1">
            <a:spLocks/>
          </p:cNvSpPr>
          <p:nvPr/>
        </p:nvSpPr>
        <p:spPr>
          <a:xfrm>
            <a:off x="6389916" y="1356001"/>
            <a:ext cx="5225143" cy="48100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u-HU" sz="2500" b="1" dirty="0">
                <a:solidFill>
                  <a:srgbClr val="0078AE"/>
                </a:solidFill>
              </a:rPr>
              <a:t>M3: System </a:t>
            </a:r>
            <a:r>
              <a:rPr lang="hu-HU" sz="2500" b="1" dirty="0" err="1">
                <a:solidFill>
                  <a:srgbClr val="0078AE"/>
                </a:solidFill>
              </a:rPr>
              <a:t>Integration</a:t>
            </a:r>
            <a:r>
              <a:rPr lang="hu-HU" sz="2500" b="1" dirty="0">
                <a:solidFill>
                  <a:srgbClr val="0078AE"/>
                </a:solidFill>
              </a:rPr>
              <a:t> &amp; </a:t>
            </a:r>
            <a:r>
              <a:rPr lang="hu-HU" sz="2500" b="1" dirty="0" err="1">
                <a:solidFill>
                  <a:srgbClr val="0078AE"/>
                </a:solidFill>
              </a:rPr>
              <a:t>Core</a:t>
            </a:r>
            <a:r>
              <a:rPr lang="hu-HU" sz="2500" b="1" dirty="0">
                <a:solidFill>
                  <a:srgbClr val="0078AE"/>
                </a:solidFill>
              </a:rPr>
              <a:t> </a:t>
            </a:r>
            <a:r>
              <a:rPr lang="hu-HU" sz="2500" b="1" dirty="0" err="1">
                <a:solidFill>
                  <a:srgbClr val="0078AE"/>
                </a:solidFill>
              </a:rPr>
              <a:t>Functionality</a:t>
            </a:r>
            <a:endParaRPr lang="hu-HU" sz="2500" b="1" dirty="0">
              <a:solidFill>
                <a:srgbClr val="0078AE"/>
              </a:solidFill>
            </a:endParaRPr>
          </a:p>
          <a:p>
            <a:r>
              <a:rPr lang="hu-HU" sz="2200" dirty="0" err="1"/>
              <a:t>Collision</a:t>
            </a:r>
            <a:r>
              <a:rPr lang="hu-HU" sz="2200" dirty="0"/>
              <a:t> </a:t>
            </a:r>
            <a:r>
              <a:rPr lang="hu-HU" sz="2200" dirty="0" err="1"/>
              <a:t>detection</a:t>
            </a:r>
            <a:r>
              <a:rPr lang="hu-HU" sz="2200" dirty="0"/>
              <a:t> </a:t>
            </a:r>
            <a:r>
              <a:rPr lang="hu-HU" sz="2200" dirty="0" err="1"/>
              <a:t>integration</a:t>
            </a:r>
            <a:endParaRPr lang="hu-HU" sz="2200" dirty="0"/>
          </a:p>
          <a:p>
            <a:r>
              <a:rPr lang="hu-HU" sz="2200" dirty="0"/>
              <a:t>Decision </a:t>
            </a:r>
            <a:r>
              <a:rPr lang="hu-HU" sz="2200" dirty="0" err="1"/>
              <a:t>making</a:t>
            </a:r>
            <a:r>
              <a:rPr lang="hu-HU" sz="2200" dirty="0"/>
              <a:t> </a:t>
            </a:r>
            <a:r>
              <a:rPr lang="hu-HU" sz="2200" dirty="0" err="1"/>
              <a:t>integration</a:t>
            </a:r>
            <a:endParaRPr lang="hu-HU" sz="2200" dirty="0"/>
          </a:p>
          <a:p>
            <a:r>
              <a:rPr lang="hu-HU" sz="2200" dirty="0" err="1"/>
              <a:t>Intervention</a:t>
            </a:r>
            <a:r>
              <a:rPr lang="hu-HU" sz="2200" dirty="0"/>
              <a:t> </a:t>
            </a:r>
            <a:r>
              <a:rPr lang="hu-HU" sz="2200" dirty="0" err="1"/>
              <a:t>integration</a:t>
            </a:r>
            <a:endParaRPr lang="hu-HU" sz="2200" dirty="0"/>
          </a:p>
          <a:p>
            <a:pPr marL="0" indent="0">
              <a:spcBef>
                <a:spcPts val="2400"/>
              </a:spcBef>
              <a:buNone/>
            </a:pPr>
            <a:r>
              <a:rPr lang="hu-HU" sz="2500" b="1" dirty="0">
                <a:solidFill>
                  <a:srgbClr val="0078AE"/>
                </a:solidFill>
              </a:rPr>
              <a:t>M4: </a:t>
            </a:r>
            <a:r>
              <a:rPr lang="hu-HU" sz="2500" b="1" dirty="0" err="1">
                <a:solidFill>
                  <a:srgbClr val="0078AE"/>
                </a:solidFill>
              </a:rPr>
              <a:t>Robustness</a:t>
            </a:r>
            <a:r>
              <a:rPr lang="hu-HU" sz="2500" b="1" dirty="0">
                <a:solidFill>
                  <a:srgbClr val="0078AE"/>
                </a:solidFill>
              </a:rPr>
              <a:t> &amp; </a:t>
            </a:r>
            <a:r>
              <a:rPr lang="hu-HU" sz="2500" b="1" dirty="0" err="1">
                <a:solidFill>
                  <a:srgbClr val="0078AE"/>
                </a:solidFill>
              </a:rPr>
              <a:t>Finalization</a:t>
            </a:r>
            <a:endParaRPr lang="hu-HU" sz="2500" b="1" dirty="0">
              <a:solidFill>
                <a:srgbClr val="0078AE"/>
              </a:solidFill>
            </a:endParaRPr>
          </a:p>
          <a:p>
            <a:r>
              <a:rPr lang="hu-HU" sz="2200" dirty="0" err="1"/>
              <a:t>Robustness</a:t>
            </a:r>
            <a:endParaRPr lang="hu-HU" sz="2200" dirty="0"/>
          </a:p>
          <a:p>
            <a:r>
              <a:rPr lang="hu-HU" sz="2200" dirty="0" err="1"/>
              <a:t>Configurability</a:t>
            </a:r>
            <a:endParaRPr lang="hu-HU" sz="2200" dirty="0"/>
          </a:p>
          <a:p>
            <a:r>
              <a:rPr lang="hu-HU" sz="2200" dirty="0" err="1"/>
              <a:t>Documentation</a:t>
            </a:r>
            <a:endParaRPr lang="hu-HU" sz="2200" dirty="0"/>
          </a:p>
          <a:p>
            <a:r>
              <a:rPr lang="hu-HU" sz="2200" dirty="0" err="1"/>
              <a:t>Presentation</a:t>
            </a:r>
            <a:endParaRPr lang="hu-HU" sz="2200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466450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3" name="Left column"/>
          <p:cNvSpPr>
            <a:spLocks noGrp="1"/>
          </p:cNvSpPr>
          <p:nvPr>
            <p:ph idx="1"/>
          </p:nvPr>
        </p:nvSpPr>
        <p:spPr>
          <a:xfrm>
            <a:off x="838200" y="1324346"/>
            <a:ext cx="5400000" cy="4800000"/>
          </a:xfrm>
        </p:spPr>
        <p:txBody>
          <a:bodyPr>
            <a:normAutofit/>
          </a:bodyPr>
          <a:lstStyle/>
          <a:p>
            <a:pPr marL="0" indent="0">
              <a:lnSpc>
                <a:spcPct val="60000"/>
              </a:lnSpc>
              <a:buNone/>
            </a:pPr>
            <a:r>
              <a:rPr lang="en-US" sz="1800" b="1" dirty="0">
                <a:solidFill>
                  <a:srgbClr val="0078AE"/>
                </a:solidFill>
              </a:rPr>
              <a:t>Item Definition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sz="1400" b="1" dirty="0"/>
              <a:t>Input: </a:t>
            </a:r>
            <a:r>
              <a:rPr lang="en-US" sz="1400" dirty="0"/>
              <a:t>Object list (pos, vel, accel) + ego state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sz="1400" b="1" dirty="0"/>
              <a:t>Output: </a:t>
            </a:r>
            <a:r>
              <a:rPr lang="en-US" sz="1400" dirty="0"/>
              <a:t>Target speed + warning signal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sz="1400" b="1" dirty="0"/>
              <a:t>Range: </a:t>
            </a:r>
            <a:r>
              <a:rPr lang="en-US" sz="1400" dirty="0"/>
              <a:t>0–50 km/h</a:t>
            </a:r>
          </a:p>
          <a:p>
            <a:pPr marL="0" indent="0">
              <a:lnSpc>
                <a:spcPct val="60000"/>
              </a:lnSpc>
              <a:spcAft>
                <a:spcPts val="1000"/>
              </a:spcAft>
              <a:buNone/>
            </a:pPr>
            <a:r>
              <a:rPr lang="en-US" sz="1400" b="1" dirty="0"/>
              <a:t>Cycle time: </a:t>
            </a:r>
            <a:r>
              <a:rPr lang="en-US" sz="1400" dirty="0"/>
              <a:t>20 ms</a:t>
            </a:r>
          </a:p>
          <a:p>
            <a:pPr marL="0" indent="0">
              <a:lnSpc>
                <a:spcPct val="60000"/>
              </a:lnSpc>
              <a:spcBef>
                <a:spcPts val="1600"/>
              </a:spcBef>
              <a:buNone/>
            </a:pPr>
            <a:r>
              <a:rPr lang="en-US" sz="1800" b="1" dirty="0">
                <a:solidFill>
                  <a:srgbClr val="0078AE"/>
                </a:solidFill>
              </a:rPr>
              <a:t>HARA – Hazard Analysis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sz="1300" b="1" dirty="0"/>
              <a:t>H-01  </a:t>
            </a:r>
            <a:r>
              <a:rPr lang="en-US" sz="1300" dirty="0"/>
              <a:t>No intervention on avoidable collision </a:t>
            </a:r>
            <a:r>
              <a:rPr lang="hu-HU" sz="1300" dirty="0">
                <a:sym typeface="Wingdings" panose="05000000000000000000" pitchFamily="2" charset="2"/>
              </a:rPr>
              <a:t></a:t>
            </a:r>
            <a:r>
              <a:rPr lang="en-US" sz="1300" dirty="0"/>
              <a:t> </a:t>
            </a:r>
            <a:r>
              <a:rPr lang="en-US" sz="1300" b="1" dirty="0">
                <a:solidFill>
                  <a:srgbClr val="C0392B"/>
                </a:solidFill>
              </a:rPr>
              <a:t>ASIL D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sz="1300" b="1" dirty="0"/>
              <a:t>H-02  </a:t>
            </a:r>
            <a:r>
              <a:rPr lang="en-US" sz="1300" dirty="0"/>
              <a:t>Unintended emergency braking </a:t>
            </a:r>
            <a:r>
              <a:rPr lang="hu-HU" sz="1300" dirty="0">
                <a:sym typeface="Wingdings" panose="05000000000000000000" pitchFamily="2" charset="2"/>
              </a:rPr>
              <a:t></a:t>
            </a:r>
            <a:r>
              <a:rPr lang="en-US" sz="1300" dirty="0"/>
              <a:t> </a:t>
            </a:r>
            <a:r>
              <a:rPr lang="en-US" sz="1300" b="1" dirty="0">
                <a:solidFill>
                  <a:srgbClr val="E67E22"/>
                </a:solidFill>
              </a:rPr>
              <a:t>ASIL C</a:t>
            </a:r>
          </a:p>
          <a:p>
            <a:pPr marL="0" indent="0">
              <a:lnSpc>
                <a:spcPct val="60000"/>
              </a:lnSpc>
              <a:spcAft>
                <a:spcPts val="1000"/>
              </a:spcAft>
              <a:buNone/>
            </a:pPr>
            <a:r>
              <a:rPr lang="en-US" sz="1300" b="1" dirty="0"/>
              <a:t>H-03  </a:t>
            </a:r>
            <a:r>
              <a:rPr lang="en-US" sz="1300" dirty="0"/>
              <a:t>Faulty decision due to sensor dropout </a:t>
            </a:r>
            <a:r>
              <a:rPr lang="hu-HU" sz="1300" dirty="0">
                <a:sym typeface="Wingdings" panose="05000000000000000000" pitchFamily="2" charset="2"/>
              </a:rPr>
              <a:t></a:t>
            </a:r>
            <a:r>
              <a:rPr lang="en-US" sz="1300" dirty="0"/>
              <a:t> </a:t>
            </a:r>
            <a:r>
              <a:rPr lang="en-US" sz="1300" b="1" dirty="0">
                <a:solidFill>
                  <a:srgbClr val="C0392B"/>
                </a:solidFill>
              </a:rPr>
              <a:t>ASIL D</a:t>
            </a:r>
          </a:p>
          <a:p>
            <a:pPr marL="0" indent="0">
              <a:lnSpc>
                <a:spcPct val="60000"/>
              </a:lnSpc>
              <a:spcBef>
                <a:spcPts val="1600"/>
              </a:spcBef>
              <a:buNone/>
            </a:pPr>
            <a:r>
              <a:rPr lang="en-US" sz="1800" b="1" dirty="0">
                <a:solidFill>
                  <a:srgbClr val="0078AE"/>
                </a:solidFill>
              </a:rPr>
              <a:t>Safety Goals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sz="1300" b="1" dirty="0"/>
              <a:t>SG-01  </a:t>
            </a:r>
            <a:r>
              <a:rPr lang="en-US" sz="1300" dirty="0"/>
              <a:t>Timely braking on avoidable collision </a:t>
            </a:r>
            <a:r>
              <a:rPr lang="hu-HU" sz="1300" dirty="0">
                <a:sym typeface="Wingdings" panose="05000000000000000000" pitchFamily="2" charset="2"/>
              </a:rPr>
              <a:t></a:t>
            </a:r>
            <a:r>
              <a:rPr lang="en-US" sz="1300" dirty="0"/>
              <a:t> </a:t>
            </a:r>
            <a:r>
              <a:rPr lang="en-US" sz="1300" b="1" dirty="0">
                <a:solidFill>
                  <a:srgbClr val="C0392B"/>
                </a:solidFill>
              </a:rPr>
              <a:t>ASIL D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sz="1300" b="1" dirty="0"/>
              <a:t>SG-02  </a:t>
            </a:r>
            <a:r>
              <a:rPr lang="en-US" sz="1300" dirty="0"/>
              <a:t>Minimize unintended interventions </a:t>
            </a:r>
            <a:r>
              <a:rPr lang="hu-HU" sz="1300" dirty="0">
                <a:sym typeface="Wingdings" panose="05000000000000000000" pitchFamily="2" charset="2"/>
              </a:rPr>
              <a:t></a:t>
            </a:r>
            <a:r>
              <a:rPr lang="en-US" sz="1300" dirty="0"/>
              <a:t> </a:t>
            </a:r>
            <a:r>
              <a:rPr lang="en-US" sz="1300" b="1" dirty="0">
                <a:solidFill>
                  <a:srgbClr val="E67E22"/>
                </a:solidFill>
              </a:rPr>
              <a:t>ASIL C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sz="1300" b="1" dirty="0"/>
              <a:t>SG-03  </a:t>
            </a:r>
            <a:r>
              <a:rPr lang="en-US" sz="1300" dirty="0"/>
              <a:t>Degraded but safe operation on sensor fault </a:t>
            </a:r>
            <a:r>
              <a:rPr lang="hu-HU" sz="1300" dirty="0">
                <a:sym typeface="Wingdings" panose="05000000000000000000" pitchFamily="2" charset="2"/>
              </a:rPr>
              <a:t></a:t>
            </a:r>
            <a:r>
              <a:rPr lang="en-US" sz="1300" dirty="0"/>
              <a:t> </a:t>
            </a:r>
            <a:r>
              <a:rPr lang="en-US" sz="1300" b="1" dirty="0">
                <a:solidFill>
                  <a:srgbClr val="C0392B"/>
                </a:solidFill>
              </a:rPr>
              <a:t>ASIL D</a:t>
            </a:r>
          </a:p>
        </p:txBody>
      </p:sp>
      <p:sp>
        <p:nvSpPr>
          <p:cNvPr id="4" name="Right column"/>
          <p:cNvSpPr>
            <a:spLocks noGrp="1"/>
          </p:cNvSpPr>
          <p:nvPr/>
        </p:nvSpPr>
        <p:spPr>
          <a:xfrm>
            <a:off x="6000000" y="1200000"/>
            <a:ext cx="5193517" cy="5032634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78A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Functional Safety Req. (FSR)</a:t>
            </a:r>
          </a:p>
          <a:p>
            <a:pPr marL="0" indent="0"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FSR-01 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Deceleration profile within accel &amp; jerk limits</a:t>
            </a:r>
          </a:p>
          <a:p>
            <a:pPr marL="0" indent="0"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FSR-02 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Handle stationary, decelerating, constant-speed, reversing objects</a:t>
            </a:r>
          </a:p>
          <a:p>
            <a:pPr marL="0" indent="0"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FSR-03 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Distinguish avoidable vs. unavoidable collision</a:t>
            </a:r>
          </a:p>
          <a:p>
            <a:pPr marL="0" indent="0"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FSR-04 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Robust to 5-cycle dropout &amp; ±10% sensor noise</a:t>
            </a:r>
          </a:p>
          <a:p>
            <a:pPr marL="0" indent="0"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FSR-05 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3 configurable Soft Limit modes (accel &amp; jerk)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US" sz="2000" b="1" dirty="0">
                <a:solidFill>
                  <a:srgbClr val="0078A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Safety Req. (TSR)</a:t>
            </a:r>
          </a:p>
          <a:p>
            <a:pPr marL="0" indent="0"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TSR-01 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Sensor validity check each cycle</a:t>
            </a:r>
          </a:p>
          <a:p>
            <a:pPr marL="0" indent="0"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TSR-02 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Extrapolation up to 5 missing cycles</a:t>
            </a:r>
          </a:p>
          <a:p>
            <a:pPr marL="0" indent="0"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TSR-03 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Noise filtering (low-pass / state estimator)</a:t>
            </a:r>
          </a:p>
          <a:p>
            <a:pPr marL="0" indent="0"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TSR-09 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Strategy: noAction / warning / avoid / impact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n-US" sz="2000" b="1" dirty="0">
                <a:solidFill>
                  <a:srgbClr val="0078A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 Safety Req. (SWE)</a:t>
            </a:r>
          </a:p>
          <a:p>
            <a:pPr marL="0" indent="0"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SWE-01 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Deterministic fixed-cycle execution</a:t>
            </a:r>
          </a:p>
          <a:p>
            <a:pPr marL="0" indent="0"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SWE-02 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Float overflow &amp; numeric stability handling</a:t>
            </a:r>
          </a:p>
          <a:p>
            <a:pPr marL="0" indent="0"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SWE-04 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State machine: Monitor / Warning / Partial / Full Brake</a:t>
            </a:r>
          </a:p>
          <a:p>
            <a:pPr marL="0" indent="0">
              <a:buNone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SWE-06 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Trace log for diagnostics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Left col"/>
          <p:cNvSpPr>
            <a:spLocks noGrp="1"/>
          </p:cNvSpPr>
          <p:nvPr>
            <p:ph idx="1"/>
          </p:nvPr>
        </p:nvSpPr>
        <p:spPr>
          <a:xfrm>
            <a:off x="838200" y="1246268"/>
            <a:ext cx="5400000" cy="480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F6CB0"/>
                </a:solidFill>
              </a:rPr>
              <a:t>ROS2</a:t>
            </a:r>
          </a:p>
          <a:p>
            <a:pPr>
              <a:spcBef>
                <a:spcPts val="800"/>
              </a:spcBef>
            </a:pPr>
            <a:r>
              <a:rPr lang="hu-HU" sz="2200" dirty="0" err="1"/>
              <a:t>Middleware</a:t>
            </a:r>
            <a:endParaRPr lang="hu-HU" sz="2200" dirty="0"/>
          </a:p>
          <a:p>
            <a:pPr>
              <a:spcBef>
                <a:spcPts val="800"/>
              </a:spcBef>
            </a:pPr>
            <a:r>
              <a:rPr lang="en-US" sz="2200" dirty="0" err="1"/>
              <a:t>crp_msgs</a:t>
            </a:r>
            <a:r>
              <a:rPr lang="en-US" sz="2200" dirty="0"/>
              <a:t>, autoware_planning_msgs, autoware_control_msgs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sz="2500" b="1" dirty="0">
                <a:solidFill>
                  <a:srgbClr val="1F6CB0"/>
                </a:solidFill>
              </a:rPr>
              <a:t>Nodes</a:t>
            </a:r>
          </a:p>
          <a:p>
            <a:pPr>
              <a:spcBef>
                <a:spcPts val="400"/>
              </a:spcBef>
            </a:pPr>
            <a:r>
              <a:rPr lang="en-US" sz="2200" dirty="0" err="1"/>
              <a:t>behavior_planner</a:t>
            </a:r>
            <a:endParaRPr lang="hu-HU" sz="2200" dirty="0"/>
          </a:p>
          <a:p>
            <a:pPr>
              <a:spcBef>
                <a:spcPts val="400"/>
              </a:spcBef>
            </a:pPr>
            <a:r>
              <a:rPr lang="en-US" sz="2200" dirty="0" err="1"/>
              <a:t>plan_long_emergency</a:t>
            </a:r>
            <a:endParaRPr lang="hu-HU" sz="2200" dirty="0"/>
          </a:p>
          <a:p>
            <a:pPr>
              <a:spcBef>
                <a:spcPts val="400"/>
              </a:spcBef>
            </a:pPr>
            <a:r>
              <a:rPr lang="en-US" sz="2200" dirty="0" err="1"/>
              <a:t>ctrl_long_emergency</a:t>
            </a:r>
            <a:endParaRPr lang="en-US" sz="2200" dirty="0"/>
          </a:p>
        </p:txBody>
      </p:sp>
      <p:sp>
        <p:nvSpPr>
          <p:cNvPr id="4" name="Right col"/>
          <p:cNvSpPr>
            <a:spLocks noGrp="1"/>
          </p:cNvSpPr>
          <p:nvPr/>
        </p:nvSpPr>
        <p:spPr>
          <a:xfrm>
            <a:off x="6621517" y="1216058"/>
            <a:ext cx="4897821" cy="541030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F6CB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Flow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hu-HU" sz="16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simulator</a:t>
            </a:r>
          </a:p>
          <a:p>
            <a:pPr marL="0" indent="0">
              <a:buNone/>
            </a:pPr>
            <a:r>
              <a:rPr lang="en-US" dirty="0">
                <a:solidFill>
                  <a:srgbClr val="8888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/ego,  /scenario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↓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hu-HU" b="1" dirty="0">
                <a:solidFill>
                  <a:srgbClr val="1F6CB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behavior_planner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8888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plan/target_space</a:t>
            </a:r>
          </a:p>
          <a:p>
            <a:pPr marL="0" indent="0">
              <a:buNone/>
            </a:pPr>
            <a:r>
              <a:rPr lang="en-US" dirty="0">
                <a:solidFill>
                  <a:srgbClr val="8888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plan/strategy_behavior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↓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hu-HU" b="1" dirty="0">
                <a:solidFill>
                  <a:srgbClr val="1F6CB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plan_long_emergency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8888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plan/longEmergency/trajectory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↓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hu-HU" b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ctrl_long_emergency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88888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/control/command/control_cmd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↓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simulator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Implementatio</a:t>
            </a:r>
            <a:r>
              <a:rPr lang="hu-HU" dirty="0"/>
              <a:t>n</a:t>
            </a:r>
            <a:endParaRPr lang="en-US" dirty="0"/>
          </a:p>
        </p:txBody>
      </p:sp>
      <p:sp>
        <p:nvSpPr>
          <p:cNvPr id="3" name="Left col"/>
          <p:cNvSpPr>
            <a:spLocks noGrp="1"/>
          </p:cNvSpPr>
          <p:nvPr>
            <p:ph idx="1"/>
          </p:nvPr>
        </p:nvSpPr>
        <p:spPr>
          <a:xfrm>
            <a:off x="846079" y="1357660"/>
            <a:ext cx="5400000" cy="480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F6CB0"/>
                </a:solidFill>
              </a:rPr>
              <a:t>Physical Equations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2000" dirty="0"/>
              <a:t>1. Kinematic extrapolation (sensor dropout)</a:t>
            </a:r>
          </a:p>
          <a:p>
            <a:pPr marL="457200" indent="0">
              <a:spcBef>
                <a:spcPts val="300"/>
              </a:spcBef>
              <a:buNone/>
            </a:pPr>
            <a:r>
              <a:rPr lang="en-US" sz="2000" dirty="0">
                <a:solidFill>
                  <a:srgbClr val="C0392B"/>
                </a:solidFill>
              </a:rPr>
              <a:t>x(t) = x₀ + v₀·dt + ½·a₀·dt²</a:t>
            </a:r>
          </a:p>
          <a:p>
            <a:pPr marL="457200" indent="0">
              <a:spcAft>
                <a:spcPts val="2400"/>
              </a:spcAft>
              <a:buNone/>
            </a:pPr>
            <a:r>
              <a:rPr lang="en-US" sz="2000" dirty="0">
                <a:solidFill>
                  <a:srgbClr val="C0392B"/>
                </a:solidFill>
              </a:rPr>
              <a:t>v(t) = v₀ + a₀·dt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2000" dirty="0"/>
              <a:t>2. Time to Collision (TTC) — general case</a:t>
            </a:r>
          </a:p>
          <a:p>
            <a:pPr marL="457200" indent="0">
              <a:spcBef>
                <a:spcPts val="300"/>
              </a:spcBef>
              <a:buNone/>
            </a:pPr>
            <a:r>
              <a:rPr lang="en-US" sz="2000" dirty="0">
                <a:solidFill>
                  <a:srgbClr val="C0392B"/>
                </a:solidFill>
              </a:rPr>
              <a:t>Δ = rel_v² + 2·rel_a·d</a:t>
            </a:r>
          </a:p>
          <a:p>
            <a:pPr marL="457200" indent="0">
              <a:buNone/>
            </a:pPr>
            <a:r>
              <a:rPr lang="en-US" sz="2000" dirty="0">
                <a:solidFill>
                  <a:srgbClr val="C0392B"/>
                </a:solidFill>
              </a:rPr>
              <a:t>TTC = (−rel_v + √Δ) / </a:t>
            </a:r>
            <a:r>
              <a:rPr lang="en-US" sz="2000" dirty="0" err="1">
                <a:solidFill>
                  <a:srgbClr val="C0392B"/>
                </a:solidFill>
              </a:rPr>
              <a:t>rel_a</a:t>
            </a:r>
            <a:r>
              <a:rPr lang="hu-HU" sz="2000" dirty="0">
                <a:solidFill>
                  <a:srgbClr val="C0392B"/>
                </a:solidFill>
              </a:rPr>
              <a:t>0</a:t>
            </a:r>
            <a:endParaRPr lang="en-US" sz="2000" dirty="0">
              <a:solidFill>
                <a:srgbClr val="C0392B"/>
              </a:solidFill>
            </a:endParaRPr>
          </a:p>
        </p:txBody>
      </p:sp>
      <p:sp>
        <p:nvSpPr>
          <p:cNvPr id="4" name="Right col"/>
          <p:cNvSpPr>
            <a:spLocks noGrp="1"/>
          </p:cNvSpPr>
          <p:nvPr/>
        </p:nvSpPr>
        <p:spPr>
          <a:xfrm>
            <a:off x="6379776" y="1819005"/>
            <a:ext cx="5943600" cy="480000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3. Required deceleration</a:t>
            </a:r>
          </a:p>
          <a:p>
            <a:pPr marL="457200" indent="0">
              <a:spcBef>
                <a:spcPts val="300"/>
              </a:spcBef>
              <a:spcAft>
                <a:spcPts val="4800"/>
              </a:spcAft>
              <a:buNone/>
            </a:pPr>
            <a:r>
              <a:rPr lang="en-US" sz="2000" dirty="0">
                <a:solidFill>
                  <a:srgbClr val="C039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= −v² / (2 · </a:t>
            </a:r>
            <a:r>
              <a:rPr lang="en-US" sz="2000" dirty="0" err="1">
                <a:solidFill>
                  <a:srgbClr val="C039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s_stop</a:t>
            </a:r>
            <a:r>
              <a:rPr lang="en-US" sz="2000" dirty="0">
                <a:solidFill>
                  <a:srgbClr val="C039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spcBef>
                <a:spcPts val="1000"/>
              </a:spcBef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4. Target speed interpolation</a:t>
            </a:r>
          </a:p>
          <a:p>
            <a:pPr marL="457200" indent="0">
              <a:spcBef>
                <a:spcPts val="300"/>
              </a:spcBef>
              <a:buNone/>
            </a:pPr>
            <a:r>
              <a:rPr lang="en-US" sz="2000" dirty="0" err="1">
                <a:solidFill>
                  <a:srgbClr val="C039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v_target</a:t>
            </a:r>
            <a:r>
              <a:rPr lang="en-US" sz="2000" dirty="0">
                <a:solidFill>
                  <a:srgbClr val="C039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2000" dirty="0" err="1">
                <a:solidFill>
                  <a:srgbClr val="C039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v_ego</a:t>
            </a:r>
            <a:r>
              <a:rPr lang="en-US" sz="2000" dirty="0">
                <a:solidFill>
                  <a:srgbClr val="C039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− (</a:t>
            </a:r>
            <a:r>
              <a:rPr lang="en-US" sz="2000" dirty="0" err="1">
                <a:solidFill>
                  <a:srgbClr val="C039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v_ego</a:t>
            </a:r>
            <a:r>
              <a:rPr lang="en-US" sz="2000" dirty="0">
                <a:solidFill>
                  <a:srgbClr val="C039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− </a:t>
            </a:r>
            <a:r>
              <a:rPr lang="en-US" sz="2000" dirty="0" err="1">
                <a:solidFill>
                  <a:srgbClr val="C039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v_traj</a:t>
            </a:r>
            <a:r>
              <a:rPr lang="en-US" sz="2000" dirty="0">
                <a:solidFill>
                  <a:srgbClr val="C039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/ cycles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D5A3622-BA5D-A595-B559-8252BF5E9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Validation</a:t>
            </a:r>
            <a:r>
              <a:rPr lang="hu-HU" dirty="0"/>
              <a:t> </a:t>
            </a:r>
            <a:r>
              <a:rPr lang="hu-HU" dirty="0" err="1"/>
              <a:t>concept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84B1C3A-EAA6-D8F0-ABEC-4869B8975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6887"/>
            <a:ext cx="10515600" cy="1320520"/>
          </a:xfrm>
        </p:spPr>
        <p:txBody>
          <a:bodyPr/>
          <a:lstStyle/>
          <a:p>
            <a:pPr marL="0" indent="0">
              <a:buNone/>
            </a:pPr>
            <a:r>
              <a:rPr lang="hu-HU" sz="2400" b="1" dirty="0" err="1">
                <a:solidFill>
                  <a:srgbClr val="1F6CB0"/>
                </a:solidFill>
              </a:rPr>
              <a:t>Simulation</a:t>
            </a:r>
            <a:endParaRPr lang="hu-HU" sz="2400" b="1" dirty="0">
              <a:solidFill>
                <a:srgbClr val="1F6CB0"/>
              </a:solidFill>
            </a:endParaRPr>
          </a:p>
          <a:p>
            <a:r>
              <a:rPr lang="hu-HU" sz="2200" dirty="0" err="1"/>
              <a:t>Tests</a:t>
            </a:r>
            <a:r>
              <a:rPr lang="hu-HU" sz="2200" dirty="0"/>
              <a:t> </a:t>
            </a:r>
            <a:r>
              <a:rPr lang="hu-HU" sz="2200" dirty="0" err="1"/>
              <a:t>done</a:t>
            </a:r>
            <a:r>
              <a:rPr lang="hu-HU" sz="2200" dirty="0"/>
              <a:t> </a:t>
            </a:r>
            <a:r>
              <a:rPr lang="hu-HU" sz="2200" dirty="0" err="1"/>
              <a:t>with</a:t>
            </a:r>
            <a:r>
              <a:rPr lang="hu-HU" sz="2200" dirty="0"/>
              <a:t> </a:t>
            </a:r>
            <a:r>
              <a:rPr lang="hu-HU" sz="2200" dirty="0" err="1"/>
              <a:t>the</a:t>
            </a:r>
            <a:r>
              <a:rPr lang="hu-HU" sz="2200" dirty="0"/>
              <a:t> </a:t>
            </a:r>
            <a:r>
              <a:rPr lang="hu-HU" sz="2200" dirty="0" err="1"/>
              <a:t>Cooperative</a:t>
            </a:r>
            <a:r>
              <a:rPr lang="hu-HU" sz="2200" dirty="0"/>
              <a:t> Research Platform </a:t>
            </a:r>
            <a:r>
              <a:rPr lang="hu-HU" sz="2200" dirty="0" err="1"/>
              <a:t>simulator</a:t>
            </a:r>
            <a:r>
              <a:rPr lang="hu-HU" sz="2200" dirty="0"/>
              <a:t> and </a:t>
            </a:r>
            <a:r>
              <a:rPr lang="hu-HU" sz="2200" dirty="0" err="1"/>
              <a:t>Foxglove</a:t>
            </a:r>
            <a:r>
              <a:rPr lang="hu-HU" sz="2200" dirty="0"/>
              <a:t> </a:t>
            </a:r>
            <a:r>
              <a:rPr lang="hu-HU" sz="2200" dirty="0" err="1"/>
              <a:t>visualizer</a:t>
            </a:r>
            <a:endParaRPr lang="hu-HU" sz="2200" dirty="0"/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D587C6B6-EE76-C0E5-9492-C8E4454EC793}"/>
              </a:ext>
            </a:extLst>
          </p:cNvPr>
          <p:cNvSpPr txBox="1"/>
          <p:nvPr/>
        </p:nvSpPr>
        <p:spPr>
          <a:xfrm>
            <a:off x="4633822" y="6308209"/>
            <a:ext cx="3821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>
                <a:solidFill>
                  <a:srgbClr val="1F6CB0"/>
                </a:solidFill>
              </a:rPr>
              <a:t>3D </a:t>
            </a:r>
            <a:r>
              <a:rPr lang="hu-HU" b="1" dirty="0" err="1">
                <a:solidFill>
                  <a:srgbClr val="1F6CB0"/>
                </a:solidFill>
              </a:rPr>
              <a:t>visualisation</a:t>
            </a:r>
            <a:r>
              <a:rPr lang="hu-HU" b="1" dirty="0">
                <a:solidFill>
                  <a:srgbClr val="1F6CB0"/>
                </a:solidFill>
              </a:rPr>
              <a:t> </a:t>
            </a:r>
            <a:r>
              <a:rPr lang="hu-HU" b="1" dirty="0" err="1">
                <a:solidFill>
                  <a:srgbClr val="1F6CB0"/>
                </a:solidFill>
              </a:rPr>
              <a:t>with</a:t>
            </a:r>
            <a:r>
              <a:rPr lang="hu-HU" b="1" dirty="0">
                <a:solidFill>
                  <a:srgbClr val="1F6CB0"/>
                </a:solidFill>
              </a:rPr>
              <a:t> </a:t>
            </a:r>
            <a:r>
              <a:rPr lang="hu-HU" b="1" dirty="0" err="1">
                <a:solidFill>
                  <a:srgbClr val="1F6CB0"/>
                </a:solidFill>
              </a:rPr>
              <a:t>Foxglove</a:t>
            </a:r>
            <a:endParaRPr lang="hu-HU" dirty="0"/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314FC54E-F1A7-04F4-AA57-5986BD12DCC3}"/>
              </a:ext>
            </a:extLst>
          </p:cNvPr>
          <p:cNvSpPr txBox="1"/>
          <p:nvPr/>
        </p:nvSpPr>
        <p:spPr>
          <a:xfrm>
            <a:off x="301924" y="2838236"/>
            <a:ext cx="237226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hu-HU" b="1" dirty="0">
              <a:solidFill>
                <a:srgbClr val="1F6CB0"/>
              </a:solidFill>
            </a:endParaRPr>
          </a:p>
          <a:p>
            <a:pPr algn="r"/>
            <a:br>
              <a:rPr lang="hu-HU" b="1" dirty="0">
                <a:solidFill>
                  <a:srgbClr val="1F6CB0"/>
                </a:solidFill>
              </a:rPr>
            </a:br>
            <a:r>
              <a:rPr lang="hu-HU" b="1" dirty="0" err="1">
                <a:solidFill>
                  <a:srgbClr val="1F6CB0"/>
                </a:solidFill>
              </a:rPr>
              <a:t>Velocity</a:t>
            </a:r>
            <a:r>
              <a:rPr lang="hu-HU" b="1" dirty="0">
                <a:solidFill>
                  <a:srgbClr val="1F6CB0"/>
                </a:solidFill>
              </a:rPr>
              <a:t> </a:t>
            </a:r>
            <a:r>
              <a:rPr lang="hu-HU" b="1" dirty="0" err="1">
                <a:solidFill>
                  <a:srgbClr val="1F6CB0"/>
                </a:solidFill>
              </a:rPr>
              <a:t>plot</a:t>
            </a:r>
            <a:endParaRPr lang="hu-HU" b="1" dirty="0">
              <a:solidFill>
                <a:srgbClr val="1F6CB0"/>
              </a:solidFill>
            </a:endParaRPr>
          </a:p>
          <a:p>
            <a:pPr algn="r"/>
            <a:endParaRPr lang="hu-HU" b="1" dirty="0">
              <a:solidFill>
                <a:srgbClr val="1F6CB0"/>
              </a:solidFill>
            </a:endParaRPr>
          </a:p>
          <a:p>
            <a:pPr algn="r"/>
            <a:endParaRPr lang="hu-HU" b="1" dirty="0">
              <a:solidFill>
                <a:srgbClr val="1F6CB0"/>
              </a:solidFill>
            </a:endParaRPr>
          </a:p>
          <a:p>
            <a:pPr algn="r"/>
            <a:endParaRPr lang="hu-HU" b="1" dirty="0">
              <a:solidFill>
                <a:srgbClr val="1F6CB0"/>
              </a:solidFill>
            </a:endParaRPr>
          </a:p>
          <a:p>
            <a:pPr algn="r"/>
            <a:endParaRPr lang="hu-HU" b="1" dirty="0">
              <a:solidFill>
                <a:srgbClr val="1F6CB0"/>
              </a:solidFill>
            </a:endParaRPr>
          </a:p>
          <a:p>
            <a:pPr algn="r"/>
            <a:endParaRPr lang="hu-HU" b="1" dirty="0">
              <a:solidFill>
                <a:srgbClr val="1F6CB0"/>
              </a:solidFill>
            </a:endParaRPr>
          </a:p>
          <a:p>
            <a:pPr algn="r"/>
            <a:endParaRPr lang="hu-HU" b="1" dirty="0">
              <a:solidFill>
                <a:srgbClr val="1F6CB0"/>
              </a:solidFill>
            </a:endParaRPr>
          </a:p>
          <a:p>
            <a:pPr algn="r"/>
            <a:r>
              <a:rPr lang="hu-HU" b="1" dirty="0" err="1">
                <a:solidFill>
                  <a:srgbClr val="1F6CB0"/>
                </a:solidFill>
              </a:rPr>
              <a:t>Acceleration</a:t>
            </a:r>
            <a:r>
              <a:rPr lang="hu-HU" b="1" dirty="0">
                <a:solidFill>
                  <a:srgbClr val="1F6CB0"/>
                </a:solidFill>
              </a:rPr>
              <a:t> </a:t>
            </a:r>
            <a:r>
              <a:rPr lang="hu-HU" b="1" dirty="0" err="1">
                <a:solidFill>
                  <a:srgbClr val="1F6CB0"/>
                </a:solidFill>
              </a:rPr>
              <a:t>plot</a:t>
            </a:r>
            <a:endParaRPr lang="hu-HU" dirty="0"/>
          </a:p>
        </p:txBody>
      </p:sp>
      <p:pic>
        <p:nvPicPr>
          <p:cNvPr id="4" name="Visualizer">
            <a:hlinkClick r:id="" action="ppaction://media"/>
            <a:extLst>
              <a:ext uri="{FF2B5EF4-FFF2-40B4-BE49-F238E27FC236}">
                <a16:creationId xmlns:a16="http://schemas.microsoft.com/office/drawing/2014/main" id="{83E21771-8E46-3844-3018-14B0C45F00E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55250" y="2270222"/>
            <a:ext cx="7178643" cy="4037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090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7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572D1EE-3742-D53C-E76A-528B8CF71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Results</a:t>
            </a:r>
            <a:endParaRPr lang="hu-HU" dirty="0"/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75F94414-283E-9B0F-D414-A941E1D02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31289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sch_SZE_template.potx" id="{C4552634-B2F6-48E6-9E23-3931CC04BCCE}" vid="{74F32713-61E4-4B49-AEE6-C318DB1D29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Bosch_SZE_template</Template>
  <TotalTime>282</TotalTime>
  <Words>770</Words>
  <Application>Microsoft Office PowerPoint</Application>
  <PresentationFormat>Szélesvásznú</PresentationFormat>
  <Paragraphs>147</Paragraphs>
  <Slides>11</Slides>
  <Notes>0</Notes>
  <HiddenSlides>0</HiddenSlides>
  <MMClips>1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Office-téma</vt:lpstr>
      <vt:lpstr>Automated Emergency Brake</vt:lpstr>
      <vt:lpstr>Introduction</vt:lpstr>
      <vt:lpstr>Standards &amp; historical background</vt:lpstr>
      <vt:lpstr>Subject background</vt:lpstr>
      <vt:lpstr>The team &amp; roles</vt:lpstr>
      <vt:lpstr>Milestones</vt:lpstr>
      <vt:lpstr>Requirements</vt:lpstr>
      <vt:lpstr>Implementation</vt:lpstr>
      <vt:lpstr>Implementation</vt:lpstr>
      <vt:lpstr>Validation concept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Igneczi Gergo Ferenc (RBHU/TER-UNI-HU)</dc:creator>
  <cp:lastModifiedBy>Nagy Szabolcs</cp:lastModifiedBy>
  <cp:revision>54</cp:revision>
  <dcterms:created xsi:type="dcterms:W3CDTF">2026-02-25T06:59:25Z</dcterms:created>
  <dcterms:modified xsi:type="dcterms:W3CDTF">2026-05-03T22:03:59Z</dcterms:modified>
</cp:coreProperties>
</file>